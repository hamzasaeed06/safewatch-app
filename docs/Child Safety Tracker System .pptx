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</ns0:embeddedFont>
    <ns0:embeddedFont>
      <ns0:font typeface="Inter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48dbf598-0659-4196-bb06-ba9f201162f4.fntdata" /><ns0:Relationship Id="rIdFont21" Type="http://schemas.openxmlformats.org/officeDocument/2006/relationships/font" Target="fonts/b189cbc3-d7bf-4cca-a3d7-0461a60e170c.fntdata" /><ns0:Relationship Id="rIdFont22" Type="http://schemas.openxmlformats.org/officeDocument/2006/relationships/font" Target="fonts/58563e13-7d42-4b6c-bef5-74215ca044c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23616"/>
            <a:ext cx="4243387" cy="285750"/>
          </a:xfrm>
          <a:prstGeom prst="roundRect">
            <a:avLst>
              <a:gd name="adj" fmla="val 50000"/>
            </a:avLst>
          </a:prstGeom>
          <a:solidFill>
            <a:srgbClr val="1A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205733"/>
            <a:ext cx="8572500" cy="581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205733"/>
            <a:ext cx="8572500" cy="9525"/>
          </a:xfrm>
          <a:prstGeom prst="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33725" y="4462908"/>
            <a:ext cx="9525" cy="304800"/>
          </a:xfrm>
          <a:prstGeom prst="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080766"/>
            <a:ext cx="403383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DD4BF"/>
                </a:solidFill>
                <a:latin typeface="Plus Jakarta Sans"/>
              </a:rPr>
              <a:t>TECH INNOVATION PITCH 2026 • CS &amp; IT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90341"/>
            <a:ext cx="11251406" cy="5914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Plus Jakarta Sans"/>
              </a:rPr>
              <a:t>Child Safety Tracker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234183"/>
            <a:ext cx="7334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A1A1AA"/>
                </a:solidFill>
                <a:latin typeface="Inter"/>
              </a:rPr>
              <a:t>Integrated Wearable BLE Band, Mobile Safe-Zone Alerts, Web Analytics &amp; Data Mining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43858"/>
            <a:ext cx="2774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1717A"/>
                </a:solidFill>
                <a:latin typeface="Inter"/>
              </a:rPr>
              <a:t>PROJECT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96258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4F4F5"/>
                </a:solidFill>
                <a:latin typeface="Inter"/>
              </a:rPr>
              <a:t>Hardware + Mobile + Web +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8050" y="4443858"/>
            <a:ext cx="2881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1717A"/>
                </a:solidFill>
                <a:latin typeface="Inter"/>
              </a:rPr>
              <a:t>PROTOTYPE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8050" y="4596258"/>
            <a:ext cx="2881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4D399"/>
                </a:solidFill>
                <a:latin typeface="Inter"/>
              </a:rPr>
              <a:t>Affordable Academic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78323"/>
            <a:ext cx="3505200" cy="2143125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78323"/>
            <a:ext cx="3505200" cy="2143125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78323"/>
            <a:ext cx="3505200" cy="2143125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54548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054548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054548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312" y="3168848"/>
            <a:ext cx="2381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0112" y="3168848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3437" y="3168848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01. PROBLEM IDENTIFICATION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Child Safety &amp; Monitoring 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26048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Unmonitored Movements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959423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Parents lose visual contact when children drift outside familiar safe areas in public spaces.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626048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Delayed Emergency Reaction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959423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Immediate status and tamper notifications are absent in traditional non-connected safety accessories.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626048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High Commercial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959423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Existing cellular GPS trackers are expensive, complex, and require monthly subscription fees.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49710"/>
            <a:ext cx="5372100" cy="1285875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449710"/>
            <a:ext cx="5372100" cy="1285875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64185"/>
            <a:ext cx="5372100" cy="1285875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64185"/>
            <a:ext cx="5372100" cy="1285875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806898"/>
            <a:ext cx="369391" cy="571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806898"/>
            <a:ext cx="396180" cy="571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321373"/>
            <a:ext cx="379958" cy="571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321373"/>
            <a:ext cx="407193" cy="571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358" y="2968823"/>
            <a:ext cx="31432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7452" y="2968823"/>
            <a:ext cx="31432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617" y="4483298"/>
            <a:ext cx="276225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6296" y="4483298"/>
            <a:ext cx="247650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02. TARGET BENEFICIARIES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Who Faces The Problem?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5716" y="2725935"/>
            <a:ext cx="5590933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Parents &amp; Guardians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5716" y="3002160"/>
            <a:ext cx="4355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Seeking a low-cost, intuitive solution for real-time proximity alerts during outdoor activities.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3205" y="2725935"/>
            <a:ext cx="5118794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Schools &amp; Early 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3205" y="3002160"/>
            <a:ext cx="43282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Childcare centers needing centralized roster tracking and out-of-bounds safety logs.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6283" y="4240410"/>
            <a:ext cx="5577064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Budget-Conscious Families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6283" y="4516635"/>
            <a:ext cx="4344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Ordinary households requiring reliable hardware safety without expensive telecom plans.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4218" y="4240410"/>
            <a:ext cx="5107781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Academic Evaluators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4218" y="4516635"/>
            <a:ext cx="43172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Controlled testing environment for sensor data mining and BLE distance modeling.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76462" y="1261020"/>
            <a:ext cx="7839075" cy="962025"/>
          </a:xfrm>
          <a:prstGeom prst="roundRect">
            <a:avLst>
              <a:gd name="adj" fmla="val 158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76462" y="2375445"/>
            <a:ext cx="7839075" cy="962025"/>
          </a:xfrm>
          <a:prstGeom prst="roundRect">
            <a:avLst>
              <a:gd name="adj" fmla="val 158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76462" y="3489870"/>
            <a:ext cx="7839075" cy="962025"/>
          </a:xfrm>
          <a:prstGeom prst="roundRect">
            <a:avLst>
              <a:gd name="adj" fmla="val 158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795" y="5040510"/>
            <a:ext cx="2602408" cy="233555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320" y="5050035"/>
            <a:ext cx="2583358" cy="231650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487" y="1484858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6487" y="2599283"/>
            <a:ext cx="1428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6487" y="3713708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03. 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Wearable Band + Smart App + AI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2237" y="1461045"/>
            <a:ext cx="9013031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Lightweight BLE Tracker Band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6487" y="1794420"/>
            <a:ext cx="92987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Ergonomic medical-grade silicone band with BLE 5.2, panic SOS button, and removal detection sensor.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4612" y="2575470"/>
            <a:ext cx="9060656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Parent Mobile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6487" y="2908845"/>
            <a:ext cx="92987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Configurable safe-zone boundaries, instantaneous breach alerts, and device status pairing.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2237" y="3689895"/>
            <a:ext cx="9013031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Web Analytics &amp; AI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6487" y="4023270"/>
            <a:ext cx="92987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Data mining algorithms detecting unusual movement patterns and risk behavior flags.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364235"/>
            <a:ext cx="10972800" cy="7620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73535"/>
            <a:ext cx="2386012" cy="15621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1862" y="2573535"/>
            <a:ext cx="2386012" cy="15621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4125" y="2573535"/>
            <a:ext cx="2386012" cy="15621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96387" y="2573535"/>
            <a:ext cx="2386012" cy="15621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2" y="3259335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325933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537" y="3259335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630935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056" y="2811660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5318" y="2811660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7581" y="2811660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9843" y="2811660"/>
            <a:ext cx="419100" cy="419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7356" y="2925960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3431" y="2925960"/>
            <a:ext cx="14287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8068" y="2925960"/>
            <a:ext cx="23812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94143" y="2925960"/>
            <a:ext cx="190500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04. SYSTEM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How The Ecosystem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8725" y="4564260"/>
            <a:ext cx="10210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5803D"/>
                </a:solidFill>
                <a:latin typeface="Inter"/>
              </a:rPr>
              <a:t>Proximity Workflow:</a:t>
            </a:r>
            <a:r>
              <a:rPr b="0" sz="1125" i="0" u="none">
                <a:solidFill>
                  <a:srgbClr val="15803D"/>
                </a:solidFill>
                <a:latin typeface="Inter"/>
              </a:rPr>
              <a:t> Continuous BLE handshake verifies distance. Safe-zone violation triggers immediate sound/vibration alerts on the mobile app within 2 seconds.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312" y="3345060"/>
            <a:ext cx="270658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Inter"/>
              </a:rPr>
              <a:t>1. Wearable Band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754" y="3592710"/>
            <a:ext cx="257770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BLE 5.2 Beacon + Tamper Sensor + 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1574" y="3345060"/>
            <a:ext cx="270658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Inter"/>
              </a:rPr>
              <a:t>2. Mobile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6017" y="3592710"/>
            <a:ext cx="257770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Proximity Detection &amp; Real-time Alerting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3837" y="3345060"/>
            <a:ext cx="270658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Inter"/>
              </a:rPr>
              <a:t>3. Cloud 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8279" y="3592710"/>
            <a:ext cx="257770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Secure Event Logging &amp; Sync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6099" y="3345060"/>
            <a:ext cx="270658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Inter"/>
              </a:rPr>
              <a:t>4. AI Web Portal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42" y="3592710"/>
            <a:ext cx="257770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Data Mining &amp; Risk Pattern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9635"/>
            <a:ext cx="5391150" cy="2047875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1849635"/>
            <a:ext cx="5391150" cy="2047875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88010"/>
            <a:ext cx="5391150" cy="1762125"/>
          </a:xfrm>
          <a:prstGeom prst="roundRect">
            <a:avLst>
              <a:gd name="adj" fmla="val 86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4088010"/>
            <a:ext cx="5391150" cy="1762125"/>
          </a:xfrm>
          <a:prstGeom prst="roundRect">
            <a:avLst>
              <a:gd name="adj" fmla="val 86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2125860"/>
            <a:ext cx="1333500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67475" y="2125860"/>
            <a:ext cx="1533525" cy="2286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825" y="4364235"/>
            <a:ext cx="1247775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67475" y="4364235"/>
            <a:ext cx="1314450" cy="22860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830710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16460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402210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2830710"/>
            <a:ext cx="1238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3116460"/>
            <a:ext cx="1238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3402210"/>
            <a:ext cx="1238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5069085"/>
            <a:ext cx="1238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5354835"/>
            <a:ext cx="1238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5069085"/>
            <a:ext cx="1238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5354835"/>
            <a:ext cx="123825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05. TECHNOLOGY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Required Hardware &amp; Software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2163960"/>
            <a:ext cx="1200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Inter"/>
              </a:rPr>
              <a:t>HARDWARE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2430660"/>
            <a:ext cx="6350793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BLE 5.2 &amp; Microcontroller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2163960"/>
            <a:ext cx="1400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5803D"/>
                </a:solidFill>
                <a:latin typeface="Inter"/>
              </a:rPr>
              <a:t>MOBILE &amp; SOFTWARE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7475" y="2430660"/>
            <a:ext cx="57245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Cross-Platform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4402335"/>
            <a:ext cx="11144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WEB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825" y="4669035"/>
            <a:ext cx="6350793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Management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1775" y="4402335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333EA"/>
                </a:solidFill>
                <a:latin typeface="Inter"/>
              </a:rPr>
              <a:t>AI &amp; DATA MINING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7475" y="4669035"/>
            <a:ext cx="57245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Anomaly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825" y="2764035"/>
            <a:ext cx="6048375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Microcontroller: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ESP32-C3 / nRF52840 Module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825" y="3049785"/>
            <a:ext cx="6048375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Battery: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Sealed Li-Po Micro-Battery (3.7V)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825" y="3335535"/>
            <a:ext cx="6048375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Enclosure: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38x22mm Child-Proof Silicone Casing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7475" y="2764035"/>
            <a:ext cx="5724525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App Framework: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Flutter / React Native BLE 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7475" y="3049785"/>
            <a:ext cx="5724525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Backend: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Node.js / Python Fast-API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7475" y="3335535"/>
            <a:ext cx="5724525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Database: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PostgreSQL / Firebase Realtime 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825" y="5002410"/>
            <a:ext cx="6048375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Frontend: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React.js / TailWind Dashboard 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825" y="5288160"/>
            <a:ext cx="6048375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Visualizations: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Real-time Event Map &amp; Log Charting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7475" y="5002410"/>
            <a:ext cx="5724525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Data Mining: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Scikit-learn / Cluster Pattern Mining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7475" y="5288160"/>
            <a:ext cx="5724525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Model Scope: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Abnormal-Movement &amp; Outlier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5960"/>
            <a:ext cx="3505200" cy="1847850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25960"/>
            <a:ext cx="3505200" cy="1847850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25960"/>
            <a:ext cx="3505200" cy="1847850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76428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925960"/>
            <a:ext cx="35052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925960"/>
            <a:ext cx="9525" cy="1847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05275" y="2925960"/>
            <a:ext cx="9525" cy="1847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476428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925960"/>
            <a:ext cx="35052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925960"/>
            <a:ext cx="9525" cy="1847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9075" y="2925960"/>
            <a:ext cx="9525" cy="1847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7200" y="476428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2925960"/>
            <a:ext cx="35052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2925960"/>
            <a:ext cx="9525" cy="1847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875" y="2925960"/>
            <a:ext cx="9525" cy="1847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06. FEASIBILITY JUSTIFICATION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Why Is This Project Feasible For Students?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230760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Technical Feasibility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3583185"/>
            <a:ext cx="304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Uses standard off-the-shelf BLE components and established open-source mobile libraries. Does not require complex custom silicon manufacturing.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9625" y="3230760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Financial Practicality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5" y="3583185"/>
            <a:ext cx="304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Estimated prototype hardware bill-of-materials is low cost, making it highly affordable for student lab development and iteration.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3425" y="3230760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Manageable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3425" y="3583185"/>
            <a:ext cx="304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Focuses initially on local BLE proximity and dataset-driven AI validation before attempting complex cellular telecom integrations.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62262" y="5797748"/>
            <a:ext cx="6467475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62262" y="6902648"/>
            <a:ext cx="6467475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62262" y="8007548"/>
            <a:ext cx="6467475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661" y="1261020"/>
            <a:ext cx="7508527" cy="423192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186" y="1270545"/>
            <a:ext cx="7489477" cy="421287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487" y="6112073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8487" y="7216973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8487" y="8321873"/>
            <a:ext cx="2571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07. EXPECTED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Real-World Benefits &amp; Value Proposition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9487" y="6073973"/>
            <a:ext cx="55256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Immediate Peace of Mind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9487" y="6312098"/>
            <a:ext cx="5262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Instant feedback when a child wanders beyond set proximity limits.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6637" y="7178873"/>
            <a:ext cx="5863232" cy="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Affordable Safety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6637" y="7416998"/>
            <a:ext cx="5584031" cy="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Democratizes child monitoring technology without subscription barriers.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8062" y="8283773"/>
            <a:ext cx="7225903" cy="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Data-Driven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8062" y="8521898"/>
            <a:ext cx="6881812" cy="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Provides historical safety logs and movement pattern analytics for child safety research.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49748"/>
            <a:ext cx="5372100" cy="2200275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749748"/>
            <a:ext cx="5372100" cy="2200275"/>
          </a:xfrm>
          <a:prstGeom prst="roundRect">
            <a:avLst>
              <a:gd name="adj" fmla="val 6926"/>
            </a:avLst>
          </a:prstGeom>
          <a:solidFill>
            <a:srgbClr val="FAFA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91050" y="3035498"/>
            <a:ext cx="1114425" cy="219075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29775" y="3035498"/>
            <a:ext cx="1676400" cy="21907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502223"/>
            <a:ext cx="1428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816548"/>
            <a:ext cx="14287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130873"/>
            <a:ext cx="1428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445198"/>
            <a:ext cx="1428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502223"/>
            <a:ext cx="1428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816548"/>
            <a:ext cx="1428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4130873"/>
            <a:ext cx="14287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4445198"/>
            <a:ext cx="14287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08. EXECUTION BOUNDARIES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Initial Prototype vs. 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025973"/>
            <a:ext cx="253781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D9488"/>
                </a:solidFill>
                <a:latin typeface="Plus Jakarta Sans"/>
              </a:rPr>
              <a:t>Phase 1: Initial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6300" y="3073598"/>
            <a:ext cx="1019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D9488"/>
                </a:solidFill>
                <a:latin typeface="Inter"/>
              </a:rPr>
              <a:t>ACADEMIC MVP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416498"/>
            <a:ext cx="6024562" cy="31432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Compact BLE 5.2 Smart Tracker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730823"/>
            <a:ext cx="6024562" cy="31432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Parent Mobile App Proximity Pairing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045148"/>
            <a:ext cx="6024562" cy="31432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Web Platform Management &amp;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4359473"/>
            <a:ext cx="6024562" cy="31432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Baseline Data Mining Anomaly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3025973"/>
            <a:ext cx="2712839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64748B"/>
                </a:solidFill>
                <a:latin typeface="Plus Jakarta Sans"/>
              </a:rPr>
              <a:t>Phase 2: Future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5025" y="3073598"/>
            <a:ext cx="1581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COMMERCIAL EXPANSION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6525" y="3416498"/>
            <a:ext cx="5705475" cy="31432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GPS + Cellular Emergency Wide-Area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6525" y="3730823"/>
            <a:ext cx="5705475" cy="31432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Advanced Miniaturization &amp; Waterproofing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6525" y="4045148"/>
            <a:ext cx="5705475" cy="31432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Public Safety &amp; School Board Partnerships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525" y="4359473"/>
            <a:ext cx="5705475" cy="31432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Full Regulatory &amp; FCC Safety Certifications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68760"/>
            <a:ext cx="5391150" cy="1285875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468760"/>
            <a:ext cx="5391150" cy="1285875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45135"/>
            <a:ext cx="5391150" cy="1285875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945135"/>
            <a:ext cx="5391150" cy="1285875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2706885"/>
            <a:ext cx="952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2706885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4183260"/>
            <a:ext cx="1905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4183260"/>
            <a:ext cx="1905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09. RISK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Technical Challenges &amp;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2687835"/>
            <a:ext cx="6500812" cy="1905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Battery &amp; Thermal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75" y="2935485"/>
            <a:ext cx="5048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Challenge: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Heat dissipation &amp; micro-battery safety near skin.</a:t>
            </a:r>
            <a:r>
              <a:t>
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Mitigation: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Medical-grade casing, thermal protection circuitry validated from -5°C to 45°C.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2687835"/>
            <a:ext cx="5781675" cy="19050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BLE Proximity 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2935485"/>
            <a:ext cx="5048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Challenge: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Signal fluctuations due to physical obstacles.</a:t>
            </a:r>
            <a:r>
              <a:t>
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Mitigation: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RSSI signal smoothing algorithms to eliminate false breach alarms.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4164210"/>
            <a:ext cx="6500812" cy="19050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Data Privacy &amp;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" y="4411860"/>
            <a:ext cx="5048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Challenge: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Responsible handling of child status records.</a:t>
            </a:r>
            <a:r>
              <a:t>
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Mitigation: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End-to-end encrypted BLE handshake and strict local device authentication.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164210"/>
            <a:ext cx="5781675" cy="19050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AI Model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4411860"/>
            <a:ext cx="5048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Challenge: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Realistic AI performance boundaries.</a:t>
            </a:r>
            <a:r>
              <a:t>
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Mitigation: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AI acts as decision support for anomalous movement; non-deterministic claims avoided.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8360"/>
            <a:ext cx="2072580" cy="1543050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34580" y="3078360"/>
            <a:ext cx="2072580" cy="1543050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59560" y="3078360"/>
            <a:ext cx="2072580" cy="1543050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84541" y="3078360"/>
            <a:ext cx="2072580" cy="1543050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521" y="3078360"/>
            <a:ext cx="2072580" cy="1543050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93490" y="327838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18470" y="327838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451" y="327838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68431" y="327838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93412" y="327838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10. EXECUTION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Phased Development 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0615" y="327838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285" y="3697485"/>
            <a:ext cx="2295208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Inter"/>
              </a:rPr>
              <a:t>Requirements &amp; 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933" y="4116585"/>
            <a:ext cx="218591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Circuit design, casing specs, thermal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595" y="327838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3266" y="3697485"/>
            <a:ext cx="229520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Inter"/>
              </a:rPr>
              <a:t>BLE Tracker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7914" y="3935610"/>
            <a:ext cx="218591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Firmware, BLE handshake, tamper button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0576" y="327838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8246" y="3697485"/>
            <a:ext cx="229520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Inter"/>
              </a:rPr>
              <a:t>Mobile &amp; Web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2894" y="3935610"/>
            <a:ext cx="218591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Alert UI, backend database, admin 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5556" y="327838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3227" y="3697485"/>
            <a:ext cx="229520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Inter"/>
              </a:rPr>
              <a:t>AI Data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7875" y="3935610"/>
            <a:ext cx="218591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External datasets + anomaly mining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50537" y="327838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8207" y="3697485"/>
            <a:ext cx="229520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Inter"/>
              </a:rPr>
              <a:t>Testing &amp;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2855" y="3935610"/>
            <a:ext cx="218591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Controlled validation and FYP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74431" y="2033587"/>
            <a:ext cx="2243137" cy="285750"/>
          </a:xfrm>
          <a:prstGeom prst="roundRect">
            <a:avLst>
              <a:gd name="adj" fmla="val 50000"/>
            </a:avLst>
          </a:prstGeom>
          <a:solidFill>
            <a:srgbClr val="1A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76725" y="4224337"/>
            <a:ext cx="3638550" cy="552450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050" y="4386262"/>
            <a:ext cx="28575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46439" y="2090737"/>
            <a:ext cx="249912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DD4BF"/>
                </a:solidFill>
                <a:latin typeface="Plus Jakarta Sans"/>
              </a:rPr>
              <a:t>SUMMARY &amp; FINAL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" y="2500312"/>
            <a:ext cx="1000125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Child Safety Tracker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3233737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A1A1AA"/>
                </a:solidFill>
                <a:latin typeface="Inter"/>
              </a:rPr>
              <a:t>An end-to-end, affordable hardware + mobile app + AI system delivering real-time safety, practical student feasibility, and strong research potential.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4868" y="4400550"/>
            <a:ext cx="3262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Thank You! Open for Questions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93717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991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991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8004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5157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92536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122908"/>
            <a:ext cx="6465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https://www.safewise.com/app/uploads/2026/01/Tracki-GPS-Tracker-2-300x269.webp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322933"/>
            <a:ext cx="2500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www.safewise.com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94433"/>
            <a:ext cx="4988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https://cdn.mos.cms.futurecdn.net/5YnhfmSCLsvg5VhGEGigoh.jpg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94458"/>
            <a:ext cx="3012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www.androidcentral.com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